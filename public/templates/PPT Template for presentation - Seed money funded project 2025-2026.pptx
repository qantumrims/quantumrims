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72" r:id="rId2"/>
    <p:sldId id="257" r:id="rId3"/>
    <p:sldId id="258" r:id="rId4"/>
    <p:sldId id="274" r:id="rId5"/>
    <p:sldId id="275" r:id="rId6"/>
    <p:sldId id="259" r:id="rId7"/>
    <p:sldId id="276" r:id="rId8"/>
    <p:sldId id="266" r:id="rId9"/>
    <p:sldId id="265" r:id="rId10"/>
    <p:sldId id="277" r:id="rId11"/>
    <p:sldId id="263" r:id="rId12"/>
    <p:sldId id="268" r:id="rId13"/>
    <p:sldId id="278" r:id="rId14"/>
    <p:sldId id="267" r:id="rId15"/>
    <p:sldId id="269" r:id="rId16"/>
    <p:sldId id="273" r:id="rId17"/>
    <p:sldId id="270" r:id="rId18"/>
  </p:sldIdLst>
  <p:sldSz cx="9144000" cy="6858000" type="screen4x3"/>
  <p:notesSz cx="9942513" cy="67611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2" autoAdjust="0"/>
    <p:restoredTop sz="94660"/>
  </p:normalViewPr>
  <p:slideViewPr>
    <p:cSldViewPr>
      <p:cViewPr varScale="1">
        <p:scale>
          <a:sx n="105" d="100"/>
          <a:sy n="105" d="100"/>
        </p:scale>
        <p:origin x="180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8422" cy="338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1790" y="0"/>
            <a:ext cx="4308422" cy="338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21932"/>
            <a:ext cx="4308422" cy="338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1790" y="6421932"/>
            <a:ext cx="4308422" cy="338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6D20C20-D3DA-47F5-B399-902DC1C109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8422" cy="338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1790" y="0"/>
            <a:ext cx="4308422" cy="338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9775" y="506413"/>
            <a:ext cx="3382963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252" y="3211553"/>
            <a:ext cx="7954010" cy="3042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21932"/>
            <a:ext cx="4308422" cy="338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1790" y="6421932"/>
            <a:ext cx="4308422" cy="338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37F61B6-1516-4B99-BFB9-6BB9979629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935309-11AB-406F-BFBA-F017BF4868F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497B05-99FB-4608-A8FA-8553CE6E09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52DFC1-6A83-4F5C-BA56-1CEBE06789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770" y="1"/>
            <a:ext cx="1963230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8912E-0F11-406A-9A9A-227C0DA548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52DFC1-6A83-4F5C-BA56-1CEBE06789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"/>
            <a:ext cx="1524000" cy="4140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CA76FD-4697-411A-BFBA-CA96FF10CC1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52DFC1-6A83-4F5C-BA56-1CEBE06789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679" y="0"/>
            <a:ext cx="2152321" cy="5847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4B44D6-07AC-4D74-92FF-5DA2FEF2CA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BA6107-DC8A-421C-8847-D4CB7705E4E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631AD4-7465-46E1-876D-A387D1E3C98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1A7202-B180-40D6-82AE-240C0400939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73B885-6E59-4CF5-8758-E90D75F40A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A1021-9D2C-4019-B399-B407BB5EBFB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8CB079-4821-45F6-9B07-86642B3DCA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A6A1E4-3A00-4043-9616-3567080BBA6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B1B852D-5866-4B9C-B5CF-DE9045E9E2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438400"/>
            <a:ext cx="7696200" cy="1219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b="1" dirty="0"/>
              <a:t>PRESENTATION ON RESEARCH PROJECT (2025-26) FUNDED THROUGH SEED MONEY (INSTITUTION)</a:t>
            </a:r>
            <a:br>
              <a:rPr lang="en-US" sz="3200" b="1" dirty="0"/>
            </a:br>
            <a:r>
              <a:rPr lang="en-US" sz="3200" b="1" dirty="0"/>
              <a:t>“___________________________”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038600"/>
            <a:ext cx="7772400" cy="1828800"/>
          </a:xfrm>
        </p:spPr>
        <p:txBody>
          <a:bodyPr>
            <a:normAutofit fontScale="92500" lnSpcReduction="20000"/>
          </a:bodyPr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800" b="1" dirty="0"/>
              <a:t>By 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800" b="1" dirty="0"/>
              <a:t>Dr. </a:t>
            </a:r>
            <a:r>
              <a:rPr lang="en-US" sz="2800" b="1" dirty="0" err="1"/>
              <a:t>X.Xxxxx</a:t>
            </a:r>
            <a:r>
              <a:rPr lang="en-US" sz="2800" b="1" dirty="0"/>
              <a:t>  &amp; </a:t>
            </a:r>
            <a:r>
              <a:rPr lang="en-US" sz="2800" b="1" dirty="0" err="1"/>
              <a:t>Mr.X</a:t>
            </a:r>
            <a:r>
              <a:rPr lang="en-US" sz="2800" b="1" dirty="0"/>
              <a:t>. </a:t>
            </a:r>
            <a:r>
              <a:rPr lang="en-US" sz="2800" b="1" dirty="0" err="1"/>
              <a:t>Xxxxx</a:t>
            </a:r>
            <a:endParaRPr lang="en-US" sz="2800" b="1" dirty="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800" b="1" dirty="0"/>
              <a:t>(Principal Investigator &amp; Co-Investigator)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800" b="1" dirty="0"/>
              <a:t>Department of ____________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800" b="1" dirty="0"/>
              <a:t>03</a:t>
            </a:r>
            <a:r>
              <a:rPr lang="en-US" sz="2800" b="1" baseline="30000" dirty="0"/>
              <a:t>th</a:t>
            </a:r>
            <a:r>
              <a:rPr lang="en-US" sz="2800" b="1" dirty="0"/>
              <a:t> September 2025</a:t>
            </a:r>
          </a:p>
        </p:txBody>
      </p:sp>
      <p:sp>
        <p:nvSpPr>
          <p:cNvPr id="54274" name="AutoShape 2" descr="data:image/jpeg;base64,/9j/4AAQSkZJRgABAQAAAQABAAD/2wCEAAkGBhQRERQUEhQWFBQVFhQWFhUYFxQVFxcYFhgaFBUVGBcXGyYeGBojGRUZHy8gJCcpLCwsFh4xNTAqNSYrLCkBCQoKDgwOGg8PGi4iHyUqLyotNSkvMCosLC0xNSs2KjU0LCkwNSwsMTQqNSwsNC0sLCw0KSwtLCwtLC8sKSwsLP/AABEIALYAkAMBIgACEQEDEQH/xAAcAAABBQEBAQAAAAAAAAAAAAAAAQQFBgcDAgj/xABHEAACAAMFAwYJDAADCQAAAAABAgADEQQFEiExBkFREyIyYXGyBzNCUnKBkaGxFBYXI1Rjc5KiwdHSU2KCFSQ0Q0Th4vDx/8QAGwEAAgMBAQEAAAAAAAAAAAAABAYAAwUBAgf/xAA2EQABBAEBBAcHBAEFAAAAAAABAAIDEQQxBRIhQRMUM1FScZEiMkJhgaHwU7HB0QYVIzRDYv/aAAwDAQACEQMRAD8A2yCCPFonBFZjooJPYBUxFF7giofSlY/vPyGD6UrH95+Qxf1aXwlD9ah8QVvhYp/0pWP738hg+lKx/efkMTq0vhKnWofEFYbXeolPhYHMVBGfujtIvCW/RYdmh9kU62bbWW1FEl4w9TTEpAz1FfVARCznZ2Rgzlj22NRyP5a08eOLIj3mH5Kw3jfoWqy8zvbcOzjDi43LSqk1JLVJir0h/J2ml2WT9YrkVJJVcQHbSBtn5z8jLHSGuBoK3IibFFwVpgiofSlY/vPyGD6UrH97+Qw39Wl8JWP1qHxBW+CKh9KVj+9/IYPpSsf3v5DE6tL4Sp1qHxBW+CKh9KVj+9/IYPpSsf3v5DE6tL4Sp1qHxBW+CInZ/aeTbQ5k4uYQDiGHpAkfCJaKnNLTR1VzXBwtuiIa3t4ib+G/dMOoa3t4ib+G/dMcGoUd7pXz8gyHYIWkImg7BDiz2GZM8WjN1gZe05Q0ukbG23kAfMpTawuNNF+S4UgMO590TkFWlOB2V9tNIao9CDrTcdI8smZILjcHeRtddG5hp4rzCtWytx0+umDM9AcB538RZ4o3ztn8VH+kQ6sO1U1WUzqGWxINBSlKZ++EDamxdo5UjsiSj3AHl8k1YW0cSBgiZY7yVbzDe02+XL6bqvUTn7NYW02sJLaZWoClq+qojNCxJJOZOZPXGdsTYvXy5z3Fobw+qM2ltLqga1osnipa/J9nc1khg28gAIfVxiJpBBH03GgGPGIwSa7zZSXNKZXl5AF9yKQUgggi1UikFIIIlqLSfBD0LT6UvumNBjPvBF0LT6UvumNChczO2cmTC7FqSGt7eIm/hv3TDqGt6+Im/hv3TAw1CKd7pWN7LXGJ3PmDmLQAecevqEXRUAFAKDcOERey1PksunA17a5xLQm7czZcjLeHng00B3UtHZmNHFA0t1IslEVrai41Kmagoy9IDRhx7RFlhpeswCRNJ0wN7xQe+Bdl5UuPlMdGdSAfmFfmwMmhcH9yzqWhYgAVJIAHEnSJi+rIEl0H/LncnXjWSjH3iHWyF01blmGQyTrO89gj3OTlJc4H7cg/NLeX8QI+l/6g2TMdG3Rg4+Z/oJMGKWYwedXHh5BQ63w/IGScwSKHgN69kMDClaZHUZHtGsIY14YY4gTGKs36oCSR763jpwRBBBFqqRBBBEURBBBEUWk+CLoWn0pfdMaFGe+CLoWn0pfdMaFC7mds5MuF2LUkNb28RN/DfumHLzANTTtyhnek5TIm0YH6t9480wIHNB4lFuB3Ssc2Zv4SOY/i2oQfNO89hi6SZ6uAVIYcQaxnEm7ZrUpKmHIeQ3xpElYtl7QTXxXWWz9imKNs7Mwp3mYzBjjrzv6Dig9nZuTE0RiMuH7fXRXWdPVBVmCjiTSIz5JMt5worCzg1ZqUMw8Fr5PXHiwbKopBmEzXypi0B6h/MaLZ5ARQq6DKMPZ+JB0hMLi4j4qoDyH8n0WxNJK9oEgoHld359yqnybk6Lhw0FANMoqVi/4S1vwtUg+xzX3NGnXtZw0sneuY/cRRVusyrlmselMblfVUBfcAfXGtsnEOPJK0m73fPjaA2i/pWsoVQd/FKqX3Kw2iYP8ANX25/GGJiU2kH15PFVPtERcOGE7ex2E9wSvKKeUQQQQUqkQQQRFEQQQRFFpPgi6Fp9KX3TGhRnvgi6Fp9KX3TGhQu5nbOTLhdi1IYjr2saclMbCMSoxB6wCR8IkYaXsPqJv4b90wE6NsnB4tGFxaCQssu3bINQTlwnLnDMesaiLHLmBgCpBB0IzEZ/dTyHAl2iqCnNnLqnU40ZfeIs93bP2qysDLpabO9M5ZBoPOC6g57qwJtb/Hod0yY/snWjofIqjZ+1JeDZfaHeNR5hTtaRabNaA6hh/8PCKybO3mt7DDqx2CbXm1QcTl7t8LOzJ5ceQgMJtbuQxrxZNUpq1jEMG9teobz/7xiI20lAXfOAFAEFBwApSJiy2XANak6sdTEXtmP9xtHoH9oc8Zp6QOcKJr6LGyK6NwHcVmO0MvmyJm4ywp7QAf3Psj3cez4mjHMqF3AZE8TXcIkZNj5exIu8KMPaun8euH1yuDITdQYSN4IyIPXAmRtOSDEdFEac15afkLNf0slmO18oc7Qi03nbMSWFACp3EE/vrFUt1iaS5RtRoeI3GNBio7WTAZygahaH1kmnsjn+P7QyJMjopHbwo68aUzYWNZvAUVCQQsJD0shEEEERcWk+CLoWn0pfdMaFGe+CLoWn0pfdMaFC5mds5MuF2LUkNb28RN/DfumHUNb28RN/DfumBhqEU7Qr59TQdgiSuq/p9mP1MwqN6nNT/pOUQpteWQ4R6lTix1AhqIDhR4pTbvN4jgtcuDa+ZOkhnVMQJBoCBUb6Vh5MvmYdKDsH8xTdhweSmZkjlNMqdERcbpsmN67lz9e4R8u2i/IGe/HjcavgnrD3HYrZHDjSsQiF20P+42j0D+0PnvRQ4T37geERm3b0sE7rAHtIEMuJKySQBhujRQGS0tjcT3Kn7LvWzjqZh76w5tFldSXkkYj0kbov19TdcReyU76uaPNIPtH/jHfZS2Y5OEmpQ79aHMfvGNnY8keRPM3RrhY7w5Z0MjSxjTzB+yb22/rQopyBQ+dznHqIFIrkxmJJapJ1JrWLFbdraEiWtaGmInX1D+YjX2zmg9GUf9Lf3hh2dHkQMtmO0X/wCqJ9b/AHQc5Y80Xk/RMJdndslRm7FJ+EdplgKeMIT/AC1q35Rp646zdo50wdPCOCjD74YExtxnIf2lN8uJ9UG7cGnFKxG7/vCQQQWFUVpPgi6Fp9KX3TGhRnvgi6Fp9KX3TGhQuZnbOTLhdi1JDW9fETfw37ph1DW9fETfw37pgYahFO90r54+TAjhkI8mx9cd00HYIcWWyGa6ourGnZxMNL3tY0vdoOKVGBziGjVPLr2YtjorSGoHzADspPXSlIfFL2kVQO/XheUR74vFmIkIFl64QteAG4dfExEXrfcuQOcaudFGp7eA64+fDbc8027FE17ie7ly4ptOzooo7fIWgfNVQzbzH+KfUhj1fV4XmZNLSJolMRUsgAJ1GYHGGttv6dMbFjK0rQLkB/MaLtVPRrPIkTWo05KqT5yqvszYQxN6TEAfJEwXrujiO/01WUNzI3gx7uHiOvcsvuudaQzCRWpAqKLoK019IxysdsnSicDYScjp74l9nyZdpCsKNzlI66V/aI60pR3HBmHvMaDd2Sd8ZaKLWm+/XVZhtrAedkeSW2XBPRcbgFTvU4qdZpoOuGaWUb84mbBf0yUMOTr5rbuww1tlpV2qqBOIBJB/iLMd2SHFkzRXIjSvJcfuEW0psBSFhYSDkOiCCCOKLSfBF0LT6UvumNCjPfBF0LT6UvumNChdzO2cmXC7FqSGt7eIm/hv3TDqGt7eIm/hv3TAw1CKd7pXz6unqi57KXRyama+TMOaDlhXj6/2iFuK6lI5afzZK0pXyzwA3j4wt9bSNO5qcyXw3t28OyCNpGbPPU8Y0343cvL5lZGH0eKBkS6/CP5UpfW1YWqSCCd76gejx7YqsyYWJLEknUnMx5gjS2fsyDAZuxDjzPMoPKzJcl288/Tkjk8XNGpy9uUWrwj20PahLGklAvrPOI+EVqyT8ExHIrgZWpxwkMB7oS0T2mOzuasxLMeJJqYNLN54cdAD91SH0wt76UhZbQJjozMFmoRQnITANxO5uB31jjfkjBPmDiaj15/GsMTDu8J/KCW1anBhPUVy+FD64EEBiyGvb7pBFd3MKwyB8ZB11800gggjQQqIIIIiiIIII4otJ8EXQtPpS+6Y0KM98EXQtPpS+6Y0KF3M7ZyZcLsWryIjb2tfMmKoxURi3AChqCeNIcWzlDRU5ta4m4DgOuOdtswSzzQv+HM7ScJzJjNt0j9xvAcz/SNIDW2Vh1vvNpxFaBR0UGSqOoQ1jymg7BHuHGKJkTQxgoJRe9zzvONlTF3bLPNlrNaZKko74JZmNhxtpQAdkR94XZMkTHlzFoya0zFNQa8DFw2dlTfkkoYFtkiZMo0kLz5BqauGrx+OREPbBZ1s1ovES35TBIRlLnlCDzjhJPSplAXWXNc4aosY7XNbytUNruIlcqWSmLBgr9ZXjhppDm5Nn5lr5Qy2lqJQVnLsVADVpnQ+aYmrXajNuku5BdrVVjQCtddOyO3g7UmXbgEEwmVKAlnRz9Zzdf3ix0rujc7na8NiaZGtOhFqs3ldRksq8pKmlgaci/KDhQ0GR6o9XTccy0zhJQBXIJ59VFBrurFpuiXOlWwH5GkgmS/1asAzAavLNTVxkN26JixSWW8bKXcuGkTsONQk1QMOU3ic8vXHh2U5or5X+UvbcZpN/OlmXIsPJbPTI59nGEwngdaaHXh2xef9uMLJYLTNbEy2pwzGlcHPVhluw/ARYv8AZErF8n5uITvlgOWnLEkezLsjpyyzVv4NVG4ofofw6LJVlMTQKxPAKSfhCBDnkctcjl28Iv1z2iZNS1WlC5VrQKS5IVZjDIKWc5qmGlR6USM9xLtd5OgUEWeSwyBGLn5036CIctwNV+cFwYoIBv8AOKy9hTXKEjpabS0x2dzVnOJjQCpO+gyjnBw+aCK0nwRdC0+lL7pjQoz3wRdC0+lL7pjQoXcztnJkwuxakhreviJv4b90w6hveMstKmACpKOAOJKkAQK3UIt2hXz2mg7BHuJhdirbT/hn/R/aF+Zdt+zTP0f2hoE0fiHqlToZPCfRPbvlyuSkqJiS1fCJswTCs0OXIIABzGGmowgZx1k2GyqjAzAGYPiJmBmUlJRAqpAejNM3Z5xGjYq2/Zn/AEf2hfmVbfsz/o/tAxaz9T7okF/6f2Kk22es7cqJcx2VBiA5VCBzZpx5ZNUouWR50MrVd9nl2iSkqewlv4xxMXQHI1Xo1ro2kcl2PtwqBZ5oB1AKgHtAbOPPzKtv2Z/0f2jrS2+Mlrjg46R19Cul9LKlylMpy03lKkmbjdF5JSUBXcHJFRvEStuslmmWmYWmcmooJbJNQFgS1STjYkCgyNNYhfmVbfsz/o/tC/Mu2/Zpn6P7RKj8YU/3L9z7FSjXBZ1WWHmELMU0LTFIr9TVlHkn61/ZHKbd1mwzGFofEFGEcspIybsxCqgYR53XDJtj7eaVs8000qVNOoVbKE+ZVt+zP+j+0eQG85P2Xfa5R/Yp/Mu2ySmIScxXFJFBNSjBppRmbDqoSjUOlY9C6bO5OGc7OR0ROXn82YwQEjIAouZr0ojvmVbfsz/o/tCpsbblNRZ5gPEFQfaGjtN16Tj9FBv/AKfDyKj75saybRNlqSVRioJoTQcaQziaOxduP/TTPan9oX5lW37M/wCj+0ECVgFFw9UOYn37p9Crd4IuhafSl90xoUUnwaXNOs6z+WltLxMhFaZ0BroT1RdRGBlOBmcQmHDBbCAURA3ttXLlIzqrOFzNMsvXE80UG0ScaMvnKR7RGBtDNfjvjA0J4/ZacMQka7vUpbdqmRS3NVRvoWOegHExG2jbIgKcbkMK1VclANCWyyzNIgRbuXkKiK/KKEYnDTNCCQC2VeEeLRYJjygqo+FhN5rOAQzGqu+nXlAzIyf+TIQbPOuHL+15dKf+ptiu6+KmLRtFNM5EV5gAmYWbyTzCSvqyMCbWnCzEzQFAZanpKThxKOFeMM/kM3lBkuDlBMJrnmuFlp2k5w3styOqYSqAjklxYiSyq+JjnkuQ0pHk9W3BbzwA+I95v6/suAz7xput8vKlN2bahy4Ws0E0rXRSRiwt10jhYts5hksTNIdULVZObStAchzgMtIZzbDMNpxquHi4agdcJAVlrm2LfHA3a+BVwnKTKQ0ocy4LjI7gKx6Y6CgGv1o+9da3qo4y2bbpY09FaJO2JL8njQuK1FCMxrC2zbcynRDKDVzJDUoCwXIHU1OkVewEvMFEIwzpswvTIjnKoB36/phpfNqKzix6ctgEUqSuAjN8h53wi6ESDJDA8n2bonny0/AvEkg6HeIr2vsr/bNs0lAF5bnE2EBaMdCch2CHNi2rkzVxAOozFGWhy1yik34avIAmCWcTsHy3LTysvKjha5rCbIQTqlwVdhlkDVWFMgTmI5BkzyQtAI3jZs3oL7l6kDGSO8IocK50tHF+SfO9zfxHmdtLZ06U1VyJzxaClTpuqPbGctbZoRpomVx4gsugOHnYFKjfQaw0t81mTn4iVl2kAsuFiPqqEjdw9UXwy5JPtltXXC7teJHRgeyDa1U35J8/3N/Ecn2glDTEfUf3jN514zqzmUtQcqOiMKlOiVbeTQ1rBMxFxKmTWKlgcVQp56FlFRuqpjhdl83NHkCT810SRcgSr/M2mGirn1kfAQynX3NbfhHUP3MUqRNHygMHHOZCrEHHMQrhoBlzagkxZhGLtKbIiLWmS7F93FHYvRyAnd0Pmrw0VexXKXAJYAe+CCNbPiZJLGHixR/hDwuLWkhScjZ6UBnU+ug90OkumUPIHrz+MEEHR4cDAKYFW6R5NWui2BB5I9gj0bGnmr7BCQRcIYx8I9F43j3ry13Sz5C+wRza55R8geqo+EEEeXY8R1aPRTfd3ptK2YkKuFAygac5jrn5VY5TNmkPlH1gGCCB34cDnWWiyvbZXgVaaW3Y9XpiwuN2JawybZBVFAEHR0xL0DVdNKEwQRm5EDYhTLA8yrmv3jbgL8kxmbLoMZp0615zZVOI4fNzzyji1xy8OE4jzXWpYkkOQWJPHKEgjGmyZmmg8+qMZBGfhC7JcCMzNvYMCMRpzhRiBuJA1h8uyauCCEIYIDUsahK4fZUwsEXwPfIQXOPqq5WNYOACkbPssopUgBchhAyHARJyLllLnTF6WcEEMkWFA3ju2fnx/dBPkdp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SECE (Autonomous) _ 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33600" y="609600"/>
            <a:ext cx="5017023" cy="1223690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"/>
          <p:cNvSpPr txBox="1">
            <a:spLocks noChangeArrowheads="1"/>
          </p:cNvSpPr>
          <p:nvPr/>
        </p:nvSpPr>
        <p:spPr bwMode="auto">
          <a:xfrm>
            <a:off x="685800" y="6172200"/>
            <a:ext cx="7543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Times New Roman" pitchFamily="18" charset="0"/>
              </a:rPr>
              <a:t>Slide No. 2</a:t>
            </a:r>
          </a:p>
        </p:txBody>
      </p:sp>
      <p:sp>
        <p:nvSpPr>
          <p:cNvPr id="4100" name="Title 8"/>
          <p:cNvSpPr>
            <a:spLocks noGrp="1"/>
          </p:cNvSpPr>
          <p:nvPr>
            <p:ph type="title"/>
          </p:nvPr>
        </p:nvSpPr>
        <p:spPr>
          <a:xfrm>
            <a:off x="609600" y="0"/>
            <a:ext cx="7162800" cy="63976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TIMELINE ACTIVITIES OF THE PROJECT</a:t>
            </a:r>
          </a:p>
        </p:txBody>
      </p:sp>
      <p:graphicFrame>
        <p:nvGraphicFramePr>
          <p:cNvPr id="4158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281432"/>
              </p:ext>
            </p:extLst>
          </p:nvPr>
        </p:nvGraphicFramePr>
        <p:xfrm>
          <a:off x="533400" y="838200"/>
          <a:ext cx="8229601" cy="5177473"/>
        </p:xfrm>
        <a:graphic>
          <a:graphicData uri="http://schemas.openxmlformats.org/drawingml/2006/table">
            <a:tbl>
              <a:tblPr/>
              <a:tblGrid>
                <a:gridCol w="1325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2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7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7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7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7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all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Activities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SEP 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OCT 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NOV 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 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JAN26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FEB 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MAR 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SANCTION ORDER RECD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DESIGN COMPLETED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EQUIPMENT ORDERED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EQPT / MATERIALS RECEIVED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INSTALLATION COMPLETED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EXERIMENTS CONDUCTED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NO. OF PAPERS SUBMITTED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NO.OF PATENTS SUBMITTED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>
            <a:spLocks noChangeArrowheads="1"/>
          </p:cNvSpPr>
          <p:nvPr/>
        </p:nvSpPr>
        <p:spPr bwMode="auto">
          <a:xfrm>
            <a:off x="990600" y="381000"/>
            <a:ext cx="7239000" cy="473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>
                <a:latin typeface="+mn-lt"/>
              </a:rPr>
              <a:t>Project Description</a:t>
            </a:r>
          </a:p>
          <a:p>
            <a:pPr algn="ctr">
              <a:spcBef>
                <a:spcPct val="50000"/>
              </a:spcBef>
            </a:pPr>
            <a:r>
              <a:rPr lang="en-US" b="1" dirty="0">
                <a:latin typeface="+mn-lt"/>
              </a:rPr>
              <a:t>(In the form of bullet points related to the project)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685800" y="6172200"/>
            <a:ext cx="7543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Times New Roman" pitchFamily="18" charset="0"/>
              </a:rPr>
              <a:t>Slide No. 3</a:t>
            </a:r>
          </a:p>
        </p:txBody>
      </p:sp>
      <p:sp>
        <p:nvSpPr>
          <p:cNvPr id="512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FD4E4-3359-352B-7284-4E937543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3600" b="1" dirty="0"/>
              <a:t>Concept and Problem Statement</a:t>
            </a:r>
            <a:br>
              <a:rPr lang="en-IN" sz="3600" b="1" dirty="0"/>
            </a:br>
            <a:r>
              <a:rPr lang="en-IN" sz="3600" dirty="0"/>
              <a:t> (TRL 2).</a:t>
            </a:r>
            <a:br>
              <a:rPr lang="en-IN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64A29-8A12-C83A-5643-FD1A82941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66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6356A-F883-E0D8-F4A8-A03A30C97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Scientific Principles / Hypotheses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FA3AC-19CE-3C82-2907-33ADB4263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2407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685800" y="381000"/>
            <a:ext cx="7772400" cy="571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3200" b="1" dirty="0">
                <a:latin typeface="+mn-lt"/>
              </a:rPr>
              <a:t>Objectives and Research </a:t>
            </a:r>
          </a:p>
          <a:p>
            <a:pPr algn="ctr">
              <a:spcBef>
                <a:spcPts val="0"/>
              </a:spcBef>
            </a:pPr>
            <a:r>
              <a:rPr lang="en-US" sz="3200" b="1" dirty="0">
                <a:latin typeface="+mn-lt"/>
              </a:rPr>
              <a:t>Benefits to The Department</a:t>
            </a:r>
          </a:p>
          <a:p>
            <a:pPr algn="ctr">
              <a:spcBef>
                <a:spcPct val="50000"/>
              </a:spcBef>
            </a:pPr>
            <a:r>
              <a:rPr lang="en-US" sz="1100" b="1" dirty="0">
                <a:latin typeface="+mn-lt"/>
              </a:rPr>
              <a:t>        (In the form of bullet points only)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sz="3200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sz="3200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685800" y="6172200"/>
            <a:ext cx="7543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Times New Roman" pitchFamily="18" charset="0"/>
              </a:rPr>
              <a:t>Slide No. 4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229600" cy="4525963"/>
          </a:xfr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A38AC-E4BC-876E-D7BB-440D73EC8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Milestones expected to achieve</a:t>
            </a:r>
            <a:br>
              <a:rPr lang="en-IN" sz="3200" b="1" dirty="0"/>
            </a:br>
            <a:r>
              <a:rPr lang="en-IN" sz="3200" b="1" dirty="0"/>
              <a:t> TRL 3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55D63-5EF8-1B21-E8A9-0E01ACB32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030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990600" y="381000"/>
            <a:ext cx="7239000" cy="4970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>
                <a:latin typeface="+mj-lt"/>
              </a:rPr>
              <a:t>Experimental  Analysis </a:t>
            </a:r>
          </a:p>
          <a:p>
            <a:pPr algn="ctr">
              <a:spcBef>
                <a:spcPct val="50000"/>
              </a:spcBef>
            </a:pPr>
            <a:r>
              <a:rPr lang="en-US" sz="2800" b="1" dirty="0">
                <a:latin typeface="+mj-lt"/>
              </a:rPr>
              <a:t>(Attach Photos)</a:t>
            </a:r>
          </a:p>
          <a:p>
            <a:pPr algn="ctr">
              <a:spcBef>
                <a:spcPct val="50000"/>
              </a:spcBef>
            </a:pPr>
            <a:r>
              <a:rPr lang="en-US" b="1" dirty="0">
                <a:latin typeface="+mj-lt"/>
              </a:rPr>
              <a:t> (In the form of bullet points only)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685800" y="6172200"/>
            <a:ext cx="7543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Times New Roman" pitchFamily="18" charset="0"/>
              </a:rPr>
              <a:t>Slide No. 6 &amp;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990600" y="381000"/>
            <a:ext cx="7239000" cy="5570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>
                <a:latin typeface="+mn-lt"/>
              </a:rPr>
              <a:t>Results &amp; Discussion </a:t>
            </a:r>
          </a:p>
          <a:p>
            <a:pPr>
              <a:spcBef>
                <a:spcPct val="50000"/>
              </a:spcBef>
            </a:pPr>
            <a:r>
              <a:rPr lang="en-US" b="1" dirty="0">
                <a:latin typeface="+mn-lt"/>
              </a:rPr>
              <a:t>                   </a:t>
            </a:r>
            <a:r>
              <a:rPr lang="en-US" b="1" dirty="0"/>
              <a:t> (Results in the form of Tables and Figures)</a:t>
            </a:r>
            <a:r>
              <a:rPr lang="en-US" b="1" dirty="0">
                <a:latin typeface="+mn-lt"/>
              </a:rPr>
              <a:t>                </a:t>
            </a:r>
          </a:p>
          <a:p>
            <a:pPr>
              <a:spcBef>
                <a:spcPct val="50000"/>
              </a:spcBef>
            </a:pPr>
            <a:r>
              <a:rPr lang="en-US" b="1" dirty="0"/>
              <a:t>                          (Discussion in the form of bullets)</a:t>
            </a:r>
            <a:endParaRPr lang="en-US" b="1" dirty="0">
              <a:latin typeface="+mn-lt"/>
            </a:endParaRPr>
          </a:p>
          <a:p>
            <a:pPr>
              <a:spcBef>
                <a:spcPct val="50000"/>
              </a:spcBef>
            </a:pPr>
            <a:endParaRPr lang="en-US" b="1" dirty="0">
              <a:latin typeface="+mn-lt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685800" y="6172200"/>
            <a:ext cx="7543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Times New Roman" pitchFamily="18" charset="0"/>
              </a:rPr>
              <a:t>Slide No. 8  - 16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8FCD-1AE3-4778-C4A5-F88484652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3600" b="1" dirty="0"/>
              <a:t>Budget requirement</a:t>
            </a:r>
            <a:r>
              <a:rPr lang="en-IN" sz="3600" dirty="0"/>
              <a:t> </a:t>
            </a:r>
            <a:br>
              <a:rPr lang="en-IN" sz="3600" dirty="0"/>
            </a:br>
            <a:r>
              <a:rPr lang="en-IN" sz="1600" dirty="0"/>
              <a:t>with justification</a:t>
            </a:r>
            <a:br>
              <a:rPr lang="en-IN" sz="1600" dirty="0"/>
            </a:br>
            <a:endParaRPr lang="en-IN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6277B-D891-B679-7008-CC0CD6B4B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523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143000" y="228600"/>
            <a:ext cx="7086600" cy="327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            </a:t>
            </a:r>
          </a:p>
          <a:p>
            <a:pPr algn="ctr">
              <a:spcBef>
                <a:spcPct val="50000"/>
              </a:spcBef>
            </a:pPr>
            <a:r>
              <a:rPr lang="en-US" sz="3200" b="1" dirty="0">
                <a:latin typeface="+mj-lt"/>
              </a:rPr>
              <a:t>CONCLUSION</a:t>
            </a:r>
          </a:p>
          <a:p>
            <a:pPr>
              <a:spcBef>
                <a:spcPct val="50000"/>
              </a:spcBef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 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685800" y="6172200"/>
            <a:ext cx="7543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Times New Roman" pitchFamily="18" charset="0"/>
              </a:rPr>
              <a:t>Slide No. 17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143000" y="533400"/>
            <a:ext cx="70866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b="1" dirty="0">
                <a:latin typeface="Times New Roman" pitchFamily="18" charset="0"/>
              </a:rPr>
              <a:t>            </a:t>
            </a:r>
          </a:p>
          <a:p>
            <a:pPr>
              <a:spcBef>
                <a:spcPct val="50000"/>
              </a:spcBef>
              <a:defRPr/>
            </a:pPr>
            <a:r>
              <a:rPr lang="en-US" sz="2400" b="1" dirty="0">
                <a:latin typeface="Times New Roman" pitchFamily="18" charset="0"/>
              </a:rPr>
              <a:t>REFERENCES</a:t>
            </a:r>
          </a:p>
          <a:p>
            <a:pPr>
              <a:spcBef>
                <a:spcPct val="50000"/>
              </a:spcBef>
              <a:defRPr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  <a:defRPr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  <a:defRPr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  <a:defRPr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  <a:defRPr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  <a:defRPr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  <a:defRPr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  <a:defRPr/>
            </a:pPr>
            <a:endParaRPr lang="en-US" b="1" dirty="0">
              <a:latin typeface="Times New Roman" pitchFamily="18" charset="0"/>
            </a:endParaRP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685800" y="6172200"/>
            <a:ext cx="7543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Times New Roman" pitchFamily="18" charset="0"/>
              </a:rPr>
              <a:t>Slide No.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F81F-0E32-6AF8-46F6-49D857314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Future scope</a:t>
            </a:r>
            <a:r>
              <a:rPr lang="en-IN" sz="3600" dirty="0"/>
              <a:t> </a:t>
            </a:r>
            <a:br>
              <a:rPr lang="en-IN" sz="3600" dirty="0"/>
            </a:br>
            <a:r>
              <a:rPr lang="en-IN" sz="1300" dirty="0"/>
              <a:t>for external funding, publications, patents, or industry collaboration.</a:t>
            </a:r>
            <a:br>
              <a:rPr lang="en-IN" sz="1300" dirty="0"/>
            </a:br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1832275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990600" y="381000"/>
            <a:ext cx="7239000" cy="743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          </a:t>
            </a:r>
          </a:p>
          <a:p>
            <a:pPr>
              <a:spcBef>
                <a:spcPct val="50000"/>
              </a:spcBef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 A.  List of Journal Papers published/communicated </a:t>
            </a:r>
          </a:p>
          <a:p>
            <a:pPr>
              <a:spcBef>
                <a:spcPct val="50000"/>
              </a:spcBef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                                         </a:t>
            </a:r>
          </a:p>
          <a:p>
            <a:pPr>
              <a:spcBef>
                <a:spcPct val="50000"/>
              </a:spcBef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 B. List of papers presented in Conferences/Seminars                                      </a:t>
            </a:r>
          </a:p>
          <a:p>
            <a:pPr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                                   </a:t>
            </a:r>
          </a:p>
          <a:p>
            <a:pPr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                                       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685800" y="6172200"/>
            <a:ext cx="75438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Times New Roman" pitchFamily="18" charset="0"/>
              </a:rPr>
              <a:t>Slide No. 19 &amp; 20 </a:t>
            </a:r>
          </a:p>
        </p:txBody>
      </p:sp>
      <p:sp>
        <p:nvSpPr>
          <p:cNvPr id="12293" name="Content Placeholder 5"/>
          <p:cNvSpPr>
            <a:spLocks noGrp="1"/>
          </p:cNvSpPr>
          <p:nvPr>
            <p:ph idx="1"/>
          </p:nvPr>
        </p:nvSpPr>
        <p:spPr>
          <a:xfrm>
            <a:off x="381000" y="228600"/>
            <a:ext cx="7772400" cy="5897563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PUBLICATIONS AND ACHIEVEMENTS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Targets for the current academic year related to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Publications: _______  papers</a:t>
            </a:r>
          </a:p>
          <a:p>
            <a:r>
              <a:rPr lang="en-US" sz="2800" dirty="0"/>
              <a:t>Applications for research funded projects _____</a:t>
            </a:r>
          </a:p>
          <a:p>
            <a:r>
              <a:rPr lang="en-US" sz="2800" dirty="0"/>
              <a:t>Submission of patent applications ____ </a:t>
            </a:r>
            <a:r>
              <a:rPr lang="en-US" sz="2800" dirty="0" err="1"/>
              <a:t>Nos</a:t>
            </a:r>
            <a:endParaRPr lang="en-US" sz="2800" dirty="0"/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143000" y="228600"/>
            <a:ext cx="70866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            </a:t>
            </a:r>
          </a:p>
          <a:p>
            <a:pPr algn="ctr">
              <a:spcBef>
                <a:spcPct val="50000"/>
              </a:spcBef>
            </a:pPr>
            <a:r>
              <a:rPr lang="en-US" sz="3200" b="1" dirty="0">
                <a:latin typeface="+mj-lt"/>
              </a:rPr>
              <a:t>OTHER DETAILS IF ANY…</a:t>
            </a:r>
            <a:endParaRPr lang="en-US" sz="3200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 b="1" dirty="0">
                <a:latin typeface="Times New Roman" pitchFamily="18" charset="0"/>
              </a:rPr>
              <a:t> 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b="1" dirty="0">
              <a:latin typeface="Times New Roman" pitchFamily="18" charset="0"/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685800" y="6172200"/>
            <a:ext cx="7543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Times New Roman" pitchFamily="18" charset="0"/>
              </a:rPr>
              <a:t>Slide No. 17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3200"/>
            <a:ext cx="8229600" cy="1143000"/>
          </a:xfrm>
        </p:spPr>
        <p:txBody>
          <a:bodyPr/>
          <a:lstStyle/>
          <a:p>
            <a:r>
              <a:rPr lang="en-US" dirty="0"/>
              <a:t>THANKS AND QUERIES IF ANY….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</TotalTime>
  <Words>318</Words>
  <Application>Microsoft Office PowerPoint</Application>
  <PresentationFormat>On-screen Show (4:3)</PresentationFormat>
  <Paragraphs>116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PRESENTATION ON RESEARCH PROJECT (2025-26) FUNDED THROUGH SEED MONEY (INSTITUTION) “___________________________”</vt:lpstr>
      <vt:lpstr>        TIMELINE ACTIVITIES OF THE PROJECT</vt:lpstr>
      <vt:lpstr>PowerPoint Presentation</vt:lpstr>
      <vt:lpstr> Concept and Problem Statement  (TRL 2). </vt:lpstr>
      <vt:lpstr>Scientific Principles / Hypotheses</vt:lpstr>
      <vt:lpstr>PowerPoint Presentation</vt:lpstr>
      <vt:lpstr>Milestones expected to achieve  TRL 3</vt:lpstr>
      <vt:lpstr>PowerPoint Presentation</vt:lpstr>
      <vt:lpstr>PowerPoint Presentation</vt:lpstr>
      <vt:lpstr> Budget requirement  with justification </vt:lpstr>
      <vt:lpstr>PowerPoint Presentation</vt:lpstr>
      <vt:lpstr>PowerPoint Presentation</vt:lpstr>
      <vt:lpstr>Future scope  for external funding, publications, patents, or industry collaboration. </vt:lpstr>
      <vt:lpstr>PowerPoint Presentation</vt:lpstr>
      <vt:lpstr>Targets for the current academic year related to the project</vt:lpstr>
      <vt:lpstr>PowerPoint Presentation</vt:lpstr>
      <vt:lpstr>THANKS AND QUERIES IF ANY….</vt:lpstr>
    </vt:vector>
  </TitlesOfParts>
  <Company>karpagam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SECE CFRD</cp:lastModifiedBy>
  <cp:revision>94</cp:revision>
  <dcterms:created xsi:type="dcterms:W3CDTF">2005-12-31T23:41:04Z</dcterms:created>
  <dcterms:modified xsi:type="dcterms:W3CDTF">2025-08-25T11:12:43Z</dcterms:modified>
</cp:coreProperties>
</file>